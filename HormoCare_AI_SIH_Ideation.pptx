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Team Sparsh  |  HormoCare AI  |  SIH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4864"/>
            <a:ext cx="12191695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BDC3C7"/>
                </a:solidFill>
                <a:latin typeface="Arial"/>
              </a:defRPr>
            </a:pPr>
            <a:r>
              <a:t>SIH 2025 — Ideation Round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Team Details &amp; Problem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486400" cy="21945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1800" b="1">
                <a:solidFill>
                  <a:srgbClr val="FF6B9D"/>
                </a:solidFill>
                <a:latin typeface="Arial"/>
              </a:defRPr>
            </a:pPr>
            <a:r>
              <a:t>Problem Statement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Problem Statement ID:  _____________  (to be assigned)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2C3E50"/>
                </a:solidFill>
                <a:latin typeface="Arial"/>
              </a:defRPr>
            </a:pPr>
            <a:r>
              <a:t>Problem Statement Title: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C44569"/>
                </a:solidFill>
                <a:latin typeface="Arial"/>
              </a:defRPr>
            </a:pPr>
            <a:r>
              <a:t>AI-Powered Early PCOS Detection &amp; Personalised Care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C44569"/>
                </a:solidFill>
                <a:latin typeface="Arial"/>
              </a:defRPr>
            </a:pPr>
            <a:r>
              <a:t>Platform for Indian Women — "HormoCare AI"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F8C8D"/>
                </a:solidFill>
                <a:latin typeface="Arial"/>
              </a:defRPr>
            </a:pPr>
            <a:r>
              <a:t>Category: Software  |  Domain: MedTech / Women's Health /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303520" cy="21945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3716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  <a:defRPr sz="1800" b="1">
                <a:solidFill>
                  <a:srgbClr val="4ECDC4"/>
                </a:solidFill>
                <a:latin typeface="Arial"/>
              </a:defRPr>
            </a:pPr>
            <a:r>
              <a:t>Team Details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2C3E50"/>
                </a:solidFill>
                <a:latin typeface="Arial"/>
              </a:defRPr>
            </a:pPr>
            <a:r>
              <a:t>Team Name:  Sparsh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2C3E50"/>
                </a:solidFill>
                <a:latin typeface="Arial"/>
              </a:defRPr>
            </a:pPr>
            <a:r>
              <a:t>Team Leader:  Anshika Madhu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C3E50"/>
                </a:solidFill>
                <a:latin typeface="Arial"/>
              </a:defRPr>
            </a:pPr>
            <a:r>
              <a:t>Institution:  MITMAAI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3703320"/>
          <a:ext cx="7772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743200"/>
                <a:gridCol w="1828800"/>
                <a:gridCol w="2560320"/>
              </a:tblGrid>
              <a:tr h="32657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S.No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Name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Reg. No.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2C3E50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Anshika Madhu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25P108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Team Leader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Nilakshi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25P84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Member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Anchal Kumari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25P70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Member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Mayank Kumar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25P27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Member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Arpan Gandhi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25P14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Member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Saurabh Kumar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25P49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C3E50"/>
                          </a:solidFill>
                          <a:latin typeface="Arial"/>
                        </a:defRPr>
                      </a:pPr>
                      <a:r>
                        <a:t>Member</a:t>
                      </a:r>
                    </a:p>
                  </a:txBody>
                  <a:tcPr anchor="ctr"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686800" y="3703320"/>
            <a:ext cx="2926080" cy="22860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3794760"/>
            <a:ext cx="2560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F39C12"/>
                </a:solidFill>
                <a:latin typeface="Arial"/>
              </a:defRPr>
            </a:pPr>
            <a:r>
              <a:t>Mentor Details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Name: _______________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Branch: _______________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Designation: _______________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Domain: MedTech / AI / CS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(Same domain as project)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Team Sparsh  |  HormoCare AI  |  SIH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2C3E50"/>
                </a:solidFill>
                <a:latin typeface="Arial"/>
              </a:defRPr>
            </a:pPr>
            <a:r>
              <a:t>Proposed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645920" cy="4572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6583680" cy="3200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6B9D"/>
                </a:solidFill>
                <a:latin typeface="Arial"/>
              </a:defRPr>
            </a:pPr>
            <a:r>
              <a:t>Core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6596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▸  An AI-powered web platform that enables early PCOS detection by tracking and analysing 15+ health parameters — menstrual cycle, weight, acne, hair fall, mood, and sleep patterns.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39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▸  Uses a weighted rule-based AI algorithm to generate a personalised PCOS Risk Score (0–100%) with colour-coded severity (Green / Yellow / Red) and trend graphs.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▸  Delivers actionable care plans: PCOS-friendly Indian diet recommendations, exercise routines, supplement guidance (Myo-inositol, Vitamin D), and doctor consultation timing alerts.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▸  Designed specifically for Indian women — considering local dietary habits, genetic predisposition, cultural barriers, and healthcare access gaps in rural/semi-urban areas.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371600"/>
            <a:ext cx="4206240" cy="3200400"/>
          </a:xfrm>
          <a:prstGeom prst="roundRect">
            <a:avLst/>
          </a:prstGeom>
          <a:solidFill>
            <a:srgbClr val="FFF0F5"/>
          </a:solidFill>
          <a:ln w="19050">
            <a:solidFill>
              <a:srgbClr val="C4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C44569"/>
                </a:solidFill>
                <a:latin typeface="Arial"/>
              </a:defRPr>
            </a:pPr>
            <a:r>
              <a:t>Unique Selling Proposition (USP)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9659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C3E50"/>
                </a:solidFill>
                <a:latin typeface="Arial"/>
              </a:defRPr>
            </a:pPr>
            <a:r>
              <a:t>🎯  First AI-Based PCOS Screener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      for Indian women specifically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774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C3E50"/>
                </a:solidFill>
                <a:latin typeface="Arial"/>
              </a:defRPr>
            </a:pPr>
            <a:r>
              <a:t>🧠  15+ Parameter AI Analysis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      not just a period tracker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788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C3E50"/>
                </a:solidFill>
                <a:latin typeface="Arial"/>
              </a:defRPr>
            </a:pPr>
            <a:r>
              <a:t>🇮🇳  India-Specific Design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      local diets, genetics, culture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2004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C3E50"/>
                </a:solidFill>
                <a:latin typeface="Arial"/>
              </a:defRPr>
            </a:pPr>
            <a:r>
              <a:t>🔒  Privacy-First Architecture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      all data stays on device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6118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C3E50"/>
                </a:solidFill>
                <a:latin typeface="Arial"/>
              </a:defRPr>
            </a:pPr>
            <a:r>
              <a:t>⚡  Works Offline / Low Data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      accessible in rural areas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0233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C3E50"/>
                </a:solidFill>
                <a:latin typeface="Arial"/>
              </a:defRPr>
            </a:pPr>
            <a:r>
              <a:t>📊  Shareable Doctor Reports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F8C8D"/>
                </a:solidFill>
                <a:latin typeface="Arial"/>
              </a:defRPr>
            </a:pPr>
            <a:r>
              <a:t>      evidence-based consultations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54880"/>
            <a:ext cx="11064240" cy="1371600"/>
          </a:xfrm>
          <a:prstGeom prst="roundRect">
            <a:avLst/>
          </a:prstGeom>
          <a:solidFill>
            <a:srgbClr val="F0FFF5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2ECC71"/>
                </a:solidFill>
                <a:latin typeface="Arial"/>
              </a:defRPr>
            </a:pPr>
            <a:r>
              <a:t>Why This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2C3E50"/>
                </a:solidFill>
                <a:latin typeface="Arial"/>
              </a:defRPr>
            </a:pPr>
            <a:r>
              <a:t>1 in 5 Indian women has PCOS. 70% go undiagnosed for 2–3 years. This leads to infertility, diabetes, obesity, and depression.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C3E50"/>
                </a:solidFill>
                <a:latin typeface="Arial"/>
              </a:defRPr>
            </a:pPr>
            <a:r>
              <a:t>HormoCare AI bridges this gap by putting early detection directly in women's hands — no expensive tests, no waiting months for a specialist.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Team Sparsh  |  HormoCare AI  |  SIH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2C3E50"/>
                </a:solidFill>
                <a:latin typeface="Arial"/>
              </a:defRPr>
            </a:pPr>
            <a:r>
              <a:t>Technical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645920" cy="4572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394960" cy="24231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5394960" cy="41148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🖥️  Frontend /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HTML5 — Semantic, accessible markup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848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CSS3 — Grid, Flexbox, responsive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865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JavaScript (ES6+) — Interactive UI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883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Progressive Web App (PWA) — Installable on 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900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Font Awesome — Icon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91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Google Fonts (Inter) — Typography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280160"/>
            <a:ext cx="5394960" cy="24231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280160"/>
            <a:ext cx="5394960" cy="41148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325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🧠  AI / Logic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Rule-Based AI Algorithm — Weighted risk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0848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Pattern Detection — Cycle irregularity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3865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Multi-Parameter Analysis — 15+ symptom factors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68833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Trend Computation — Weekly/monthly patterns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9900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Risk Classification — Green / Yellow / 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291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Recommendation Engine — Personalised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86200"/>
            <a:ext cx="5394960" cy="24231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886200"/>
            <a:ext cx="539496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931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💾  Data / 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389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localStorage — Client-side data persistence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6908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JSON — Structured symptom data format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992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Data Export — PDF / CSV report generation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2943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Encryption — AES for sensitive health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5961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Zero Cloud Dependency — Works fully offline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8978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HIPAA-Aligned Principles — Privacy first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886200"/>
            <a:ext cx="5394960" cy="24231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886200"/>
            <a:ext cx="539496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931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🚀  Future Scale Stack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3891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React Native / Flutter — Mobile 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6908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Firebase — Auth, Firestore, Cloud Functions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9926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TensorFlow.js — ML model upgrade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2943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Node.js + Express — Backend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5961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MongoDB — Scalable health data storage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8978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Twilio / FCM — Notifications &amp; reminders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Team Sparsh  |  HormoCare AI  |  SIH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2C3E50"/>
                </a:solidFill>
                <a:latin typeface="Arial"/>
              </a:defRPr>
            </a:pPr>
            <a:r>
              <a:t>System Architecture &amp;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645920" cy="4572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109728" cy="105156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5331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F6B9D"/>
                </a:solidFill>
                <a:latin typeface="Arial"/>
              </a:defRPr>
            </a:pPr>
            <a:r>
              <a:t>PRESENTATION LAYER (User Interface)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📱 Responsive Web App (HTML/CSS/JS)  →  PWA Installable  →  Mobile-First Design</a:t>
            </a:r>
            <a:br/>
            <a:r>
              <a:t>User interactions: Profile Setup  |  Symptom Logging  |  Risk Dashboard  |  Care Plans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68880"/>
            <a:ext cx="110642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109728" cy="105156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4203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4ECDC4"/>
                </a:solidFill>
                <a:latin typeface="Arial"/>
              </a:defRPr>
            </a:pPr>
            <a:r>
              <a:t>APPLICATION LAYER (Business Logic &amp; AI)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3464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🧠 AI Risk Engine: Weighted Algorithm (Cycle 40% + Weight 20% + Hormonal 30% + Lifestyle 10%)</a:t>
            </a:r>
            <a:br/>
            <a:r>
              <a:t>Pattern Detector  →  Risk Classifier  →  Recommendation Generator  →  Alert System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110642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657600"/>
            <a:ext cx="109728" cy="10515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30752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39C12"/>
                </a:solidFill>
                <a:latin typeface="Arial"/>
              </a:defRPr>
            </a:pPr>
            <a:r>
              <a:t>DATA LAYER (Storage &amp; Security)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2336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💾 localStorage (JSON)  →  AES Encryption  →  No Cloud Transfer Without Consent</a:t>
            </a:r>
            <a:br/>
            <a:r>
              <a:t>User Profile  |  Symptom History  |  Risk Assessments  |  Care Plan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F8C8D"/>
                </a:solidFill>
                <a:latin typeface="Arial"/>
              </a:defRPr>
            </a:pPr>
            <a:r>
              <a:t>⬇  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5204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7F8C8D"/>
                </a:solidFill>
                <a:latin typeface="Arial"/>
              </a:defRPr>
            </a:pPr>
            <a:r>
              <a:t>⬇  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709160"/>
            <a:ext cx="11064240" cy="1463040"/>
          </a:xfrm>
          <a:prstGeom prst="roundRect">
            <a:avLst/>
          </a:prstGeom>
          <a:solidFill>
            <a:srgbClr val="F5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754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C44569"/>
                </a:solidFill>
                <a:latin typeface="Arial"/>
              </a:defRPr>
            </a:pPr>
            <a:r>
              <a:t>Data Flow Diagram (DFD)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74920"/>
            <a:ext cx="777240" cy="914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120640"/>
            <a:ext cx="777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6B9D"/>
                </a:solidFill>
                <a:latin typeface="Arial"/>
              </a:defRPr>
            </a:pPr>
            <a:r>
              <a:t>👤</a:t>
            </a:r>
            <a:br/>
            <a:r>
              <a:t>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257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7F8C8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77439" y="5074920"/>
            <a:ext cx="777240" cy="914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39" y="5120640"/>
            <a:ext cx="777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6B9D"/>
                </a:solidFill>
                <a:latin typeface="Arial"/>
              </a:defRPr>
            </a:pPr>
            <a:r>
              <a:t>📱</a:t>
            </a:r>
            <a:br/>
            <a:r>
              <a:t>App UI</a:t>
            </a:r>
            <a:br/>
            <a:r>
              <a:t>(Input)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5257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7F8C8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0" y="5074920"/>
            <a:ext cx="777240" cy="914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0" y="5120640"/>
            <a:ext cx="777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4ECDC4"/>
                </a:solidFill>
                <a:latin typeface="Arial"/>
              </a:defRPr>
            </a:pPr>
            <a:r>
              <a:t>⚙️</a:t>
            </a:r>
            <a:br/>
            <a:r>
              <a:t>Validation</a:t>
            </a:r>
            <a:br/>
            <a:r>
              <a:t>&amp; Parsing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5257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7F8C8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52159" y="5074920"/>
            <a:ext cx="777240" cy="914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59" y="5120640"/>
            <a:ext cx="777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4ECDC4"/>
                </a:solidFill>
                <a:latin typeface="Arial"/>
              </a:defRPr>
            </a:pPr>
            <a:r>
              <a:t>🧠</a:t>
            </a:r>
            <a:br/>
            <a:r>
              <a:t>AI Risk</a:t>
            </a:r>
            <a:br/>
            <a:r>
              <a:t>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257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7F8C8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89519" y="5074920"/>
            <a:ext cx="777240" cy="914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19" y="5120640"/>
            <a:ext cx="777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39C12"/>
                </a:solidFill>
                <a:latin typeface="Arial"/>
              </a:defRPr>
            </a:pPr>
            <a:r>
              <a:t>📊</a:t>
            </a:r>
            <a:br/>
            <a:r>
              <a:t>Risk Score</a:t>
            </a:r>
            <a:br/>
            <a:r>
              <a:t>&amp;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199" y="5257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7F8C8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26880" y="5074920"/>
            <a:ext cx="777240" cy="914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5120640"/>
            <a:ext cx="777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2ECC71"/>
                </a:solidFill>
                <a:latin typeface="Arial"/>
              </a:defRPr>
            </a:pPr>
            <a:r>
              <a:t>💡</a:t>
            </a:r>
            <a:br/>
            <a:r>
              <a:t>Care Plan</a:t>
            </a:r>
            <a:br/>
            <a:r>
              <a:t>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5559" y="5257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7F8C8D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064239" y="5074920"/>
            <a:ext cx="777240" cy="9144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64239" y="5120640"/>
            <a:ext cx="777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6B9D"/>
                </a:solidFill>
                <a:latin typeface="Arial"/>
              </a:defRPr>
            </a:pPr>
            <a:r>
              <a:t>👤</a:t>
            </a:r>
            <a:br/>
            <a:r>
              <a:t>User</a:t>
            </a:r>
            <a:br/>
            <a:r>
              <a:t>(Result)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Team Sparsh  |  HormoCare AI  |  SIH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2C3E50"/>
                </a:solidFill>
                <a:latin typeface="Arial"/>
              </a:defRPr>
            </a:pPr>
            <a:r>
              <a:t>Feasibility &amp; Potential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645920" cy="4572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5486400" cy="21031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FF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6B9D"/>
                </a:solidFill>
                <a:latin typeface="Arial"/>
              </a:defRPr>
            </a:pPr>
            <a:r>
              <a:t>🎯  Who Are the End Users?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Women aged 15–40 experiencing menstrual irregularities or PCOS symptoms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Rural/semi-urban women with limited access to gynaecologists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Health-conscious young women wanting preventive screening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Gynaecologists seeking pre-screening data from patients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089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Corporate wellness programs for female employee health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280160"/>
            <a:ext cx="5303520" cy="210312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2ECC71"/>
                </a:solidFill>
                <a:latin typeface="Arial"/>
              </a:defRPr>
            </a:pPr>
            <a:r>
              <a:t>🇮🇳  How Will This Scale Across India?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828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PWA works on any smartphone — no app store dependency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48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Offline-first: functions without internet in rural areas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68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Multilingual support roadmap (Hindi, Tamil, Bengali, etc.)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88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Partnership with ASHA workers for community outreach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108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▸  Integration with Ayushman Bharat Digital Mission (ABDM)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11880"/>
            <a:ext cx="110642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703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4ECDC4"/>
                </a:solidFill>
                <a:latin typeface="Arial"/>
              </a:defRPr>
            </a:pPr>
            <a:r>
              <a:t>📊  Potential Impact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11480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🩺  Early Detection:  Reduce diagnosis delay from 2–3 years to under 6 months through proactive screening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988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🧠  Awareness at Scale:  Educate millions that irregular periods + acne + hair fall are not 'normal' but PCOS warning signs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828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💪  Women's Empowerment:  Arm women with data-backed health reports so doctors take their symptoms seriously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26694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🏥  Healthcare Access:  Bridge the gynaecologist gap in rural India through AI-powered pre-screening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5099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🤝  Family Impact:  Prevent downstream effects — infertility, chronic diabetes, depression — improving entire family wellbeing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116430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Team Sparsh  |  HormoCare AI  |  SIH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2C3E50"/>
                </a:solidFill>
                <a:latin typeface="Arial"/>
              </a:defRPr>
            </a:pPr>
            <a:r>
              <a:t>Team Photos &amp; Attestation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868680"/>
            <a:ext cx="1645920" cy="4572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645920" cy="18288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BDC3C7"/>
                </a:solidFill>
                <a:latin typeface="Arial"/>
              </a:defRPr>
            </a:pPr>
            <a: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BDC3C7"/>
                </a:solidFill>
                <a:latin typeface="Arial"/>
              </a:defRPr>
            </a:pPr>
            <a:r>
              <a:t>[Photo]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5467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C3E50"/>
                </a:solidFill>
                <a:latin typeface="Arial"/>
              </a:defRPr>
            </a:pPr>
            <a:r>
              <a:t>Anshika Madhu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7F8C8D"/>
                </a:solidFill>
                <a:latin typeface="Arial"/>
              </a:defRPr>
            </a:pPr>
            <a:r>
              <a:t>25P108  |  Team Leader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1280160"/>
            <a:ext cx="1645920" cy="18288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BDC3C7"/>
                </a:solidFill>
                <a:latin typeface="Arial"/>
              </a:defRPr>
            </a:pPr>
            <a:r>
              <a:t>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BDC3C7"/>
                </a:solidFill>
                <a:latin typeface="Arial"/>
              </a:defRPr>
            </a:pPr>
            <a:r>
              <a:t>[Photo]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15467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C3E50"/>
                </a:solidFill>
                <a:latin typeface="Arial"/>
              </a:defRPr>
            </a:pPr>
            <a:r>
              <a:t>Nilakshi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3832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7F8C8D"/>
                </a:solidFill>
                <a:latin typeface="Arial"/>
              </a:defRPr>
            </a:pPr>
            <a:r>
              <a:t>25P84  |  Member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280160"/>
            <a:ext cx="1645920" cy="18288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BDC3C7"/>
                </a:solidFill>
                <a:latin typeface="Arial"/>
              </a:defRPr>
            </a:pPr>
            <a:r>
              <a:t>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BDC3C7"/>
                </a:solidFill>
                <a:latin typeface="Arial"/>
              </a:defRPr>
            </a:pPr>
            <a:r>
              <a:t>[Photo]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15467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C3E50"/>
                </a:solidFill>
                <a:latin typeface="Arial"/>
              </a:defRPr>
            </a:pPr>
            <a:r>
              <a:t>Anchal Kumari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3832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7F8C8D"/>
                </a:solidFill>
                <a:latin typeface="Arial"/>
              </a:defRPr>
            </a:pPr>
            <a:r>
              <a:t>25P70  |  Member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280160"/>
            <a:ext cx="1645920" cy="18288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BDC3C7"/>
                </a:solidFill>
                <a:latin typeface="Arial"/>
              </a:defRPr>
            </a:pPr>
            <a:r>
              <a:t>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BDC3C7"/>
                </a:solidFill>
                <a:latin typeface="Arial"/>
              </a:defRPr>
            </a:pPr>
            <a:r>
              <a:t>[Photo]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15467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C3E50"/>
                </a:solidFill>
                <a:latin typeface="Arial"/>
              </a:defRPr>
            </a:pPr>
            <a:r>
              <a:t>Mayank Kumar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3832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7F8C8D"/>
                </a:solidFill>
                <a:latin typeface="Arial"/>
              </a:defRPr>
            </a:pPr>
            <a:r>
              <a:t>25P27  |  Member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1280160"/>
            <a:ext cx="1645920" cy="18288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BDC3C7"/>
                </a:solidFill>
                <a:latin typeface="Arial"/>
              </a:defRPr>
            </a:pPr>
            <a:r>
              <a:t>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BDC3C7"/>
                </a:solidFill>
                <a:latin typeface="Arial"/>
              </a:defRPr>
            </a:pPr>
            <a:r>
              <a:t>[Photo]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15467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C3E50"/>
                </a:solidFill>
                <a:latin typeface="Arial"/>
              </a:defRPr>
            </a:pPr>
            <a:r>
              <a:t>Arpan Gandhi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3832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7F8C8D"/>
                </a:solidFill>
                <a:latin typeface="Arial"/>
              </a:defRPr>
            </a:pPr>
            <a:r>
              <a:t>25P14  |  Member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1280160"/>
            <a:ext cx="1645920" cy="182880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0" y="1828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BDC3C7"/>
                </a:solidFill>
                <a:latin typeface="Arial"/>
              </a:defRPr>
            </a:pPr>
            <a:r>
              <a:t>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2331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BDC3C7"/>
                </a:solidFill>
                <a:latin typeface="Arial"/>
              </a:defRPr>
            </a:pPr>
            <a:r>
              <a:t>[Photo]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315467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C3E50"/>
                </a:solidFill>
                <a:latin typeface="Arial"/>
              </a:defRPr>
            </a:pPr>
            <a:r>
              <a:t>Saurabh Kumar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38328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7F8C8D"/>
                </a:solidFill>
                <a:latin typeface="Arial"/>
              </a:defRPr>
            </a:pPr>
            <a:r>
              <a:t>25P49  |  Member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749039"/>
            <a:ext cx="11247120" cy="2377440"/>
          </a:xfrm>
          <a:prstGeom prst="roundRect">
            <a:avLst/>
          </a:prstGeom>
          <a:solidFill>
            <a:srgbClr val="FFFBF0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840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39C12"/>
                </a:solidFill>
                <a:latin typeface="Arial"/>
              </a:defRPr>
            </a:pPr>
            <a:r>
              <a:t>📜  Declaration &amp; Attestation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062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2C3E50"/>
                </a:solidFill>
                <a:latin typeface="Arial"/>
              </a:defRPr>
            </a:pPr>
            <a:r>
              <a:t>We agree to abide by all rules and policies set forth by MITMAAI. The decision of MITMAAI selection team will be binding and cannot be challenged.</a:t>
            </a:r>
            <a:br/>
            <a:br/>
            <a:r>
              <a:t>We also agree that, before filing any patent applications or forming any startup based substantially on their winning project, we will first consult with MITMAAI/the Mentor regarding strategy, protection, and commercialization, and will consider in good faith offering MITMAAI/the Mentor an appropriate advisory or equity role as may be mutually agreed in writing.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852160"/>
            <a:ext cx="1645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BDC3C7"/>
                </a:solidFill>
                <a:latin typeface="Arial"/>
              </a:defRPr>
            </a:pPr>
            <a:r>
              <a:t>______________________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0167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2C3E50"/>
                </a:solidFill>
                <a:latin typeface="Arial"/>
              </a:defRPr>
            </a:pPr>
            <a:r>
              <a:t>Anshika Madhu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8880" y="5852160"/>
            <a:ext cx="1645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BDC3C7"/>
                </a:solidFill>
                <a:latin typeface="Arial"/>
              </a:defRPr>
            </a:pPr>
            <a:r>
              <a:t>______________________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80" y="60167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2C3E50"/>
                </a:solidFill>
                <a:latin typeface="Arial"/>
              </a:defRPr>
            </a:pPr>
            <a:r>
              <a:t>Nilakshi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5852160"/>
            <a:ext cx="1645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BDC3C7"/>
                </a:solidFill>
                <a:latin typeface="Arial"/>
              </a:defRPr>
            </a:pPr>
            <a:r>
              <a:t>______________________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60167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2C3E50"/>
                </a:solidFill>
                <a:latin typeface="Arial"/>
              </a:defRPr>
            </a:pPr>
            <a:r>
              <a:t>Anchal Kumari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5852160"/>
            <a:ext cx="1645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BDC3C7"/>
                </a:solidFill>
                <a:latin typeface="Arial"/>
              </a:defRPr>
            </a:pPr>
            <a:r>
              <a:t>______________________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60167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2C3E50"/>
                </a:solidFill>
                <a:latin typeface="Arial"/>
              </a:defRPr>
            </a:pPr>
            <a:r>
              <a:t>Mayank Kumar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852160"/>
            <a:ext cx="1645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BDC3C7"/>
                </a:solidFill>
                <a:latin typeface="Arial"/>
              </a:defRPr>
            </a:pPr>
            <a:r>
              <a:t>______________________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60167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2C3E50"/>
                </a:solidFill>
                <a:latin typeface="Arial"/>
              </a:defRPr>
            </a:pPr>
            <a:r>
              <a:t>Arpan Gandhi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9840" y="5852160"/>
            <a:ext cx="16459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BDC3C7"/>
                </a:solidFill>
                <a:latin typeface="Arial"/>
              </a:defRPr>
            </a:pPr>
            <a:r>
              <a:t>______________________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60167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2C3E50"/>
                </a:solidFill>
                <a:latin typeface="Arial"/>
              </a:defRPr>
            </a:pPr>
            <a:r>
              <a:t>Saurabh Kumar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