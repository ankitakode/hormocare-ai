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Team Sparsh  |  HormoCare AI  |  Grand Finale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BDC3C7"/>
                </a:solidFill>
                <a:latin typeface="Arial"/>
              </a:defRPr>
            </a:pPr>
            <a:r>
              <a:t>SIH 2025  —  Grand Finale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🌸  HormoCare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BDC3C7"/>
                </a:solidFill>
                <a:latin typeface="Arial"/>
              </a:defRPr>
            </a:pPr>
            <a:r>
              <a:t>AI-Powered Early PCOS Detection &amp; Personalised Care for Indian Women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C3E50"/>
                </a:solidFill>
                <a:latin typeface="Arial"/>
              </a:defRPr>
            </a:pPr>
            <a:r>
              <a:t>Team Sparsh  |  Leader: Anshika Madhu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1737360" cy="11887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C3E50"/>
                </a:solidFill>
                <a:latin typeface="Arial"/>
              </a:defRPr>
            </a:pPr>
            <a:r>
              <a:t>Anshika Madhu</a:t>
            </a:r>
            <a:br/>
            <a:r>
              <a:t>(25P108, Leader)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2926080"/>
            <a:ext cx="1737360" cy="11887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30632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Nilakshi</a:t>
            </a:r>
            <a:br/>
            <a:r>
              <a:t>(25P84)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926080"/>
            <a:ext cx="1737360" cy="11887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30632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Anchal Kumari</a:t>
            </a:r>
            <a:br/>
            <a:r>
              <a:t>(25P70)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926080"/>
            <a:ext cx="1737360" cy="11887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0632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Mayank Kumar</a:t>
            </a:r>
            <a:br/>
            <a:r>
              <a:t>(25P27)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926080"/>
            <a:ext cx="1737360" cy="11887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0632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Arpan Gandhi</a:t>
            </a:r>
            <a:br/>
            <a:r>
              <a:t>(25P14)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49840" y="2926080"/>
            <a:ext cx="1737360" cy="11887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30632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Saurabh Kumar</a:t>
            </a:r>
            <a:br/>
            <a:r>
              <a:t>(25P49)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2560320" cy="12801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FF6B9D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Indian women have PCOS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4389120"/>
            <a:ext cx="2560320" cy="12801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FF6B9D"/>
                </a:solidFill>
                <a:latin typeface="Arial"/>
              </a:defRPr>
            </a:pPr>
            <a:r>
              <a:t>70%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Go undiagnosed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389120"/>
            <a:ext cx="2560320" cy="12801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FF6B9D"/>
                </a:solidFill>
                <a:latin typeface="Arial"/>
              </a:defRPr>
            </a:pPr>
            <a:r>
              <a:t>100M+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Women affected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4389120"/>
            <a:ext cx="2560320" cy="12801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FF6B9D"/>
                </a:solidFill>
                <a:latin typeface="Arial"/>
              </a:defRPr>
            </a:pPr>
            <a:r>
              <a:t>2–3 yrs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Diagnosis delay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Team Sparsh  |  HormoCare AI  |  Grand Finale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2C3E50"/>
                </a:solidFill>
                <a:latin typeface="Arial"/>
              </a:defRPr>
            </a:pPr>
            <a:r>
              <a:t>The Prototype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645920" cy="457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F8C8D"/>
                </a:solidFill>
                <a:latin typeface="Arial"/>
              </a:defRPr>
            </a:pPr>
            <a:r>
              <a:t>High-quality screenshots of our working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2103120" cy="2926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>
                <a:solidFill>
                  <a:srgbClr val="BDC3C7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BDC3C7"/>
                </a:solidFill>
                <a:latin typeface="Arial"/>
              </a:defRPr>
            </a:pPr>
            <a:r>
              <a:t>[Screenshot]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389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C3E50"/>
                </a:solidFill>
                <a:latin typeface="Arial"/>
              </a:defRPr>
            </a:pPr>
            <a:r>
              <a:t>🏠 Landing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Hero section with PCOS statistics,</a:t>
            </a:r>
            <a:br/>
            <a:r>
              <a:t>problem statement, feature showcase,</a:t>
            </a:r>
            <a:br/>
            <a:r>
              <a:t>and 'Start Assessment' CTA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79" y="1371600"/>
            <a:ext cx="2103120" cy="2926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79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>
                <a:solidFill>
                  <a:srgbClr val="BDC3C7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BDC3C7"/>
                </a:solidFill>
                <a:latin typeface="Arial"/>
              </a:defRPr>
            </a:pPr>
            <a:r>
              <a:t>[Screenshot]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4389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C3E50"/>
                </a:solidFill>
                <a:latin typeface="Arial"/>
              </a:defRPr>
            </a:pPr>
            <a:r>
              <a:t>📝 Profile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47548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User onboarding: age, weight,</a:t>
            </a:r>
            <a:br/>
            <a:r>
              <a:t>height, family history input</a:t>
            </a:r>
            <a:br/>
            <a:r>
              <a:t>with clean form design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371600"/>
            <a:ext cx="2103120" cy="2926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>
                <a:solidFill>
                  <a:srgbClr val="BDC3C7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BDC3C7"/>
                </a:solidFill>
                <a:latin typeface="Arial"/>
              </a:defRPr>
            </a:pPr>
            <a:r>
              <a:t>[Screenshot]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389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C3E50"/>
                </a:solidFill>
                <a:latin typeface="Arial"/>
              </a:defRPr>
            </a:pPr>
            <a:r>
              <a:t>📊 Symptom Tracker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7548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Daily logging interface:</a:t>
            </a:r>
            <a:br/>
            <a:r>
              <a:t>menstrual cycle, acne (1–5),</a:t>
            </a:r>
            <a:br/>
            <a:r>
              <a:t>hair fall, mood, sleep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19" y="1371600"/>
            <a:ext cx="2103120" cy="2926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19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>
                <a:solidFill>
                  <a:srgbClr val="BDC3C7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19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BDC3C7"/>
                </a:solidFill>
                <a:latin typeface="Arial"/>
              </a:defRPr>
            </a:pPr>
            <a:r>
              <a:t>[Screenshot]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19" y="4389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C3E50"/>
                </a:solidFill>
                <a:latin typeface="Arial"/>
              </a:defRPr>
            </a:pPr>
            <a:r>
              <a:t>🧠 AI Risk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59" y="47548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Risk score (0–100%) with</a:t>
            </a:r>
            <a:br/>
            <a:r>
              <a:t>colour indicator, risk factors,</a:t>
            </a:r>
            <a:br/>
            <a:r>
              <a:t>AI insights &amp; trend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1371600"/>
            <a:ext cx="2103120" cy="29260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>
                <a:solidFill>
                  <a:srgbClr val="BDC3C7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BDC3C7"/>
                </a:solidFill>
                <a:latin typeface="Arial"/>
              </a:defRPr>
            </a:pPr>
            <a:r>
              <a:t>[Screenshot]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389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C3E50"/>
                </a:solidFill>
                <a:latin typeface="Arial"/>
              </a:defRPr>
            </a:pPr>
            <a:r>
              <a:t>💡 Care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47548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Personalised diet, exercise,</a:t>
            </a:r>
            <a:br/>
            <a:r>
              <a:t>supplement reminders,</a:t>
            </a:r>
            <a:br/>
            <a:r>
              <a:t>doctor consultation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Team Sparsh  |  HormoCare AI  |  Grand Finale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2C3E50"/>
                </a:solidFill>
                <a:latin typeface="Arial"/>
              </a:defRPr>
            </a:pPr>
            <a:r>
              <a:t>Detailed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645920" cy="457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F8C8D"/>
                </a:solidFill>
                <a:latin typeface="Arial"/>
              </a:defRPr>
            </a:pPr>
            <a:r>
              <a:t>Step-by-step: how HormoCare AI works in a real-world scenario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5331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2984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6B9D"/>
                </a:solidFill>
                <a:latin typeface="Arial"/>
              </a:defRPr>
            </a:pPr>
            <a:r>
              <a:t>Woman Downloads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Opens HormoCare AI on her smartphone browser. PWA installs to home screen instantly — no app store needed.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8483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029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4ECDC4"/>
                </a:solidFill>
                <a:latin typeface="Arial"/>
              </a:defRPr>
            </a:pPr>
            <a:r>
              <a:t>Creates Health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31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Enters age (25), weight (62kg), height (160cm), selects family history of PCOS (mother had it). Takes 90 seconds.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163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761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39C12"/>
                </a:solidFill>
                <a:latin typeface="Arial"/>
              </a:defRPr>
            </a:pPr>
            <a:r>
              <a:t>Logs Daily Symptoms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063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Each evening (&lt; 1 min): marks period status, rates acne (3/5), selects hair fall level (High), logs mood (anxious), sleep (5 hrs).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4787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493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C44569"/>
                </a:solidFill>
                <a:latin typeface="Arial"/>
              </a:defRPr>
            </a:pPr>
            <a:r>
              <a:t>AI Analyses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After 2 weeks of data, the algorithm detects: cycle &gt; 35 days + high acne + weight gain pattern + family history → flags risk.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7939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224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E74C3C"/>
                </a:solidFill>
                <a:latin typeface="Arial"/>
              </a:defRPr>
            </a:pPr>
            <a:r>
              <a:t>Gets Risk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Dashboard shows: 68% PCOS Risk (Yellow/Moderate). Lists 4 contributing factors. Shows trend graph of cycle irregularity over time.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01091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9560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ECC71"/>
                </a:solidFill>
                <a:latin typeface="Arial"/>
              </a:defRPr>
            </a:pPr>
            <a:r>
              <a:t>Receives Care 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257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Personalised output: 'Consult gynaecologist within 2 weeks' + Indian diet plan (low GI roti, dal, millets) + 30-min daily walk + Myo-inositol.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5715000"/>
            <a:ext cx="457200" cy="457200"/>
          </a:xfrm>
          <a:prstGeom prst="ellipse">
            <a:avLst/>
          </a:prstGeom>
          <a:solidFill>
            <a:srgbClr val="45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74243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687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45B7D1"/>
                </a:solidFill>
                <a:latin typeface="Arial"/>
              </a:defRPr>
            </a:pPr>
            <a:r>
              <a:t>Shares Report with Doctor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5989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Generates a PDF with 2 weeks of symptom data, risk score, and trend graphs. Doctor gets instant context — no more 'it's just stress' dismissals.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Team Sparsh  |  HormoCare AI  |  Grand Finale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2C3E50"/>
                </a:solidFill>
                <a:latin typeface="Arial"/>
              </a:defRPr>
            </a:pPr>
            <a:r>
              <a:t>Competitive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645920" cy="457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F8C8D"/>
                </a:solidFill>
                <a:latin typeface="Arial"/>
              </a:defRPr>
            </a:pPr>
            <a:r>
              <a:t>How HormoCare AI compares to existing solutions in the market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1828800"/>
                <a:gridCol w="2103120"/>
                <a:gridCol w="2743200"/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Flo App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Clue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MyFitnessPal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HormoCare AI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PCOS Risk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  <a:latin typeface="Arial"/>
                        </a:defRPr>
                      </a:pPr>
                      <a:r>
                        <a:t>✓ AI-Powered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Multi-Symptom Tracking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Period only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Period + mood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Weight only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15+ parameters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AI Risk Scoring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  <a:latin typeface="Arial"/>
                        </a:defRPr>
                      </a:pPr>
                      <a:r>
                        <a:t>✓ 0–100% score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India-Specific Design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Global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Global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Global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  <a:latin typeface="Arial"/>
                        </a:defRPr>
                      </a:pPr>
                      <a:r>
                        <a:t>✓ Indian focus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Personalised Diet 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Generic tips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Calorie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  <a:latin typeface="Arial"/>
                        </a:defRPr>
                      </a:pPr>
                      <a:r>
                        <a:t>✓ PCOS Indian diet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Doctor Report Export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  <a:latin typeface="Arial"/>
                        </a:defRPr>
                      </a:pPr>
                      <a:r>
                        <a:t>✓ PDF reports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Works Offline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  <a:latin typeface="Arial"/>
                        </a:defRPr>
                      </a:pPr>
                      <a:r>
                        <a:t>✓ Full offline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Privacy-First (No Cloud)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Cloud-based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Cloud-based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Cloud-based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  <a:latin typeface="Arial"/>
                        </a:defRPr>
                      </a:pPr>
                      <a:r>
                        <a:t>✓ Local storage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Supplement Guidance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Generic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  <a:latin typeface="Arial"/>
                        </a:defRPr>
                      </a:pPr>
                      <a:r>
                        <a:t>✓ PCOS-specific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Exercise Recommendations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Arial"/>
                        </a:defRPr>
                      </a:pPr>
                      <a:r>
                        <a:t>✗ No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Generic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  <a:latin typeface="Arial"/>
                        </a:defRPr>
                      </a:pPr>
                      <a:r>
                        <a:t>✓ PCOS-tailored</a:t>
                      </a:r>
                    </a:p>
                  </a:txBody>
                  <a:tcPr anchor="ctr">
                    <a:solidFill>
                      <a:srgbClr val="F0FF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Team Sparsh  |  HormoCare AI  |  Grand Finale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2C3E50"/>
                </a:solidFill>
                <a:latin typeface="Arial"/>
              </a:defRPr>
            </a:pPr>
            <a:r>
              <a:t>The Change We Bring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645920" cy="457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F8C8D"/>
                </a:solidFill>
                <a:latin typeface="Arial"/>
              </a:defRPr>
            </a:pPr>
            <a:r>
              <a:t>Impact measured in lives transformed — not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486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2C3E50"/>
                </a:solidFill>
                <a:latin typeface="Arial"/>
              </a:defRPr>
            </a:pPr>
            <a:r>
              <a:t>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3533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E74C3C"/>
                </a:solidFill>
                <a:latin typeface="Arial"/>
              </a:defRPr>
            </a:pPr>
            <a:r>
              <a:t>Slash Diagnosis Delay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64592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C3E50"/>
                </a:solidFill>
                <a:latin typeface="Arial"/>
              </a:defRPr>
            </a:pPr>
            <a:r>
              <a:t>From 2–3 years to under 6 months. Early detection means a 25-year-old catches PCOS before it causes infertility at 30. That's a family saved.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486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2C3E50"/>
                </a:solidFill>
                <a:latin typeface="Arial"/>
              </a:defRPr>
            </a:pPr>
            <a:r>
              <a:t>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533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6B9D"/>
                </a:solidFill>
                <a:latin typeface="Arial"/>
              </a:defRPr>
            </a:pPr>
            <a:r>
              <a:t>Break the Silence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64592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C3E50"/>
                </a:solidFill>
                <a:latin typeface="Arial"/>
              </a:defRPr>
            </a:pPr>
            <a:r>
              <a:t>Millions of Indian women suffer alone — told 'it's normal' by family. HormoCare shows them with data that their symptoms are real and treatable.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60320"/>
            <a:ext cx="5486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2C3E50"/>
                </a:solidFill>
                <a:latin typeface="Arial"/>
              </a:defRPr>
            </a:pPr>
            <a:r>
              <a:t>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6334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4ECDC4"/>
                </a:solidFill>
                <a:latin typeface="Arial"/>
              </a:defRPr>
            </a:pPr>
            <a:r>
              <a:t>Healthcare for Bharat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2608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C3E50"/>
                </a:solidFill>
                <a:latin typeface="Arial"/>
              </a:defRPr>
            </a:pPr>
            <a:r>
              <a:t>In tier-2/3 cities and villages, specialist access is near zero. Our AI pre-screening bridges that gap — bringing intelligence where doctors can't reach.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560320"/>
            <a:ext cx="5486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2C3E50"/>
                </a:solidFill>
                <a:latin typeface="Arial"/>
              </a:defRPr>
            </a:pPr>
            <a:r>
              <a:t>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334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39C12"/>
                </a:solidFill>
                <a:latin typeface="Arial"/>
              </a:defRPr>
            </a:pPr>
            <a:r>
              <a:t>Data-Powered Self-Advocacy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92608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C3E50"/>
                </a:solidFill>
                <a:latin typeface="Arial"/>
              </a:defRPr>
            </a:pPr>
            <a:r>
              <a:t>A woman walks into a clinic with a PDF showing 3 months of tracked symptoms and a 72% risk score. No doctor dismisses that as 'just stress' anymore.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40479"/>
            <a:ext cx="5486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93191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2C3E50"/>
                </a:solidFill>
                <a:latin typeface="Arial"/>
              </a:defRPr>
            </a:pPr>
            <a:r>
              <a:t>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91363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C44569"/>
                </a:solidFill>
                <a:latin typeface="Arial"/>
              </a:defRPr>
            </a:pPr>
            <a:r>
              <a:t>Mental Health Ripple Effect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06239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C3E50"/>
                </a:solidFill>
                <a:latin typeface="Arial"/>
              </a:defRPr>
            </a:pPr>
            <a:r>
              <a:t>PCOS causes anxiety, depression, body image issues. Early intervention and support through our platform addresses the mental health crisis that silently follows.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840479"/>
            <a:ext cx="5486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93191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2C3E50"/>
                </a:solidFill>
                <a:latin typeface="Arial"/>
              </a:defRPr>
            </a:pPr>
            <a:r>
              <a:t>👨‍👩‍👧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91363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ECC71"/>
                </a:solidFill>
                <a:latin typeface="Arial"/>
              </a:defRPr>
            </a:pPr>
            <a:r>
              <a:t>Protect Entire Families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206239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C3E50"/>
                </a:solidFill>
                <a:latin typeface="Arial"/>
              </a:defRPr>
            </a:pPr>
            <a:r>
              <a:t>Untreated PCOS → fertility struggles → relationship strain → financial burden of IVF. One early alert prevents years of suffering for the whole family.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20640"/>
            <a:ext cx="5486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5B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212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2C3E50"/>
                </a:solidFill>
                <a:latin typeface="Arial"/>
              </a:defRPr>
            </a:pPr>
            <a:r>
              <a:t>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1937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45B7D1"/>
                </a:solidFill>
                <a:latin typeface="Arial"/>
              </a:defRPr>
            </a:pPr>
            <a:r>
              <a:t>Health Literacy Revolution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48640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C3E50"/>
                </a:solidFill>
                <a:latin typeface="Arial"/>
              </a:defRPr>
            </a:pPr>
            <a:r>
              <a:t>Every user learns about hormonal health, nutrition, and their own body. This knowledge passes to daughters, sisters, friends — creating generational awareness.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20640"/>
            <a:ext cx="5486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3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5212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2C3E50"/>
                </a:solidFill>
                <a:latin typeface="Arial"/>
              </a:defRPr>
            </a:pPr>
            <a:r>
              <a:t>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1937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F3D6E"/>
                </a:solidFill>
                <a:latin typeface="Arial"/>
              </a:defRPr>
            </a:pPr>
            <a:r>
              <a:t>Reduce Healthcare System Load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48640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C3E50"/>
                </a:solidFill>
                <a:latin typeface="Arial"/>
              </a:defRPr>
            </a:pPr>
            <a:r>
              <a:t>By catching PCOS early, we prevent the downstream surge of diabetes, cardiac issues, and fertility treatments that overburden India's hospitals.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Team Sparsh  |  HormoCare AI  |  Grand Finale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2C3E50"/>
                </a:solidFill>
                <a:latin typeface="Arial"/>
              </a:defRPr>
            </a:pPr>
            <a:r>
              <a:t>Future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645920" cy="457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F8C8D"/>
                </a:solidFill>
                <a:latin typeface="Arial"/>
              </a:defRPr>
            </a:pPr>
            <a:r>
              <a:t>What we build in the next 6–24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2743200" cy="47548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43200" cy="59436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Now → 3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Finalise AI algorithm with gynaecologist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Beta test with 100 women across 3 cities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Refine UI/UX based on user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Add Hindi language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Partner with 2 gynaecologist clinics for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371600"/>
            <a:ext cx="2743200" cy="47548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371600"/>
            <a:ext cx="2743200" cy="5943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417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3 → 6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Scale &amp; Integrate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Launch native mobile app (React Native)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606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Multilingual: Tamil, Bengali, Marathi, Telugu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108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Doctor appointment booking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611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Lab test partnership (Thyrocare, SRL)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Community forum for peer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371600"/>
            <a:ext cx="2743200" cy="47548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1371600"/>
            <a:ext cx="2743200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417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6 → 12 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Platform Evolution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Upgrade to ML model (TensorFlow) with real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606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Wearable device integration (smartwatch data)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108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Teleconsultation with PCOS specialists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11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Pharmacy delivery for supplements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ASHA worker outreach programme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1371600"/>
            <a:ext cx="2743200" cy="47548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0" y="1371600"/>
            <a:ext cx="2743200" cy="5943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1417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12 → 24 Months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National &amp; Beyond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Integration with Ayushman Bharat Digital Mission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2606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Corporate wellness programme rollout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3108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Expand to thyroid, PCOD, endometriosis screening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3611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Southeast Asia &amp; Middle East expansion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Research partnerships with medical colleges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Team Sparsh  |  HormoCare AI  |  Grand Finale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2C3E50"/>
                </a:solidFill>
                <a:latin typeface="Arial"/>
              </a:defRPr>
            </a:pPr>
            <a:r>
              <a:t>Cost Breakdown &amp; Sustainability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645920" cy="457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371600"/>
                <a:gridCol w="137160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Cost Estimate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Web App (MVP)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HTML/CSS/JS + PWA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₹0 (self-built)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Mobile App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React Native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₹1.5–2L (freelance) or self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3 months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Backend + 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Firebase (free tier)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₹0–5K/month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 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AI Model Upgrade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TensorFlow.js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₹0 (open source)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2 months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Domain + Hosting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Vercel / Netlify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₹3–5K/year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Immediate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Medical Validation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Gynaecologist consult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₹20–30K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Ongoing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44569"/>
                          </a:solidFill>
                          <a:latin typeface="Arial"/>
                        </a:defRPr>
                      </a:pPr>
                      <a:r>
                        <a:t>Total MVP Cost</a:t>
                      </a:r>
                    </a:p>
                  </a:txBody>
                  <a:tcPr anchor="ctr"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44569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44569"/>
                          </a:solidFill>
                          <a:latin typeface="Arial"/>
                        </a:defRPr>
                      </a:pPr>
                      <a:r>
                        <a:t>₹2–3 Lakhs</a:t>
                      </a:r>
                    </a:p>
                  </a:txBody>
                  <a:tcPr anchor="ctr"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44569"/>
                          </a:solidFill>
                          <a:latin typeface="Arial"/>
                        </a:defRPr>
                      </a:pPr>
                      <a:r>
                        <a:t>6 months</a:t>
                      </a:r>
                    </a:p>
                  </a:txBody>
                  <a:tcPr anchor="ctr">
                    <a:solidFill>
                      <a:srgbClr val="FFF0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280160"/>
            <a:ext cx="4297680" cy="47548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371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2ECC71"/>
                </a:solidFill>
                <a:latin typeface="Arial"/>
              </a:defRPr>
            </a:pPr>
            <a:r>
              <a:t>♻️  Sustainability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8288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C3E50"/>
                </a:solidFill>
                <a:latin typeface="Arial"/>
              </a:defRPr>
            </a:pPr>
            <a:r>
              <a:t>▸  Open-Source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0574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Free forever for basic risk assessment — ensuring no woman is excluded due to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49631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C3E50"/>
                </a:solidFill>
                <a:latin typeface="Arial"/>
              </a:defRPr>
            </a:pPr>
            <a:r>
              <a:t>▸  Government Partnership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72491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Align with National Digital Health Mission for funding and reach through public health 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16382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C3E50"/>
                </a:solidFill>
                <a:latin typeface="Arial"/>
              </a:defRPr>
            </a:pPr>
            <a:r>
              <a:t>▸  Freemium for Advanced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39242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Premium features (detailed reports, teleconsult) sustain development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831335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C3E50"/>
                </a:solidFill>
                <a:latin typeface="Arial"/>
              </a:defRPr>
            </a:pPr>
            <a:r>
              <a:t>▸  NGO &amp; CSR Funding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059935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Partner with women's health NGOs and corporate CSR programmes for subsidised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49884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C3E50"/>
                </a:solidFill>
                <a:latin typeface="Arial"/>
              </a:defRPr>
            </a:pPr>
            <a:r>
              <a:t>▸  Academic Collaboration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7274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Medical college partnerships for research validation and continuous improvement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51663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C3E50"/>
                </a:solidFill>
                <a:latin typeface="Arial"/>
              </a:defRPr>
            </a:pPr>
            <a:r>
              <a:t>▸  Community-Driven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3949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User community contributes to awareness, reduces acquisition costs organically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Team Sparsh  |  HormoCare AI  |  Grand Finale</a:t>
            </a:r>
          </a:p>
        </p:txBody>
      </p:sp>
      <p:sp>
        <p:nvSpPr>
          <p:cNvPr id="5" name="Oval 4"/>
          <p:cNvSpPr/>
          <p:nvPr/>
        </p:nvSpPr>
        <p:spPr>
          <a:xfrm>
            <a:off x="9144000" y="457200"/>
            <a:ext cx="4572000" cy="4572000"/>
          </a:xfrm>
          <a:prstGeom prst="ellipse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0">
                <a:solidFill>
                  <a:srgbClr val="2C3E50"/>
                </a:solidFill>
                <a:latin typeface="Arial"/>
              </a:defRPr>
            </a:pPr>
            <a:r>
              <a:t>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400" b="1">
                <a:solidFill>
                  <a:srgbClr val="FF6B9D"/>
                </a:solidFill>
                <a:latin typeface="Arial"/>
              </a:defRPr>
            </a:pPr>
            <a:r>
              <a:t>HormoCare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2331720"/>
            <a:ext cx="2103120" cy="457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56032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C3E50"/>
                </a:solidFill>
                <a:latin typeface="Arial"/>
              </a:defRPr>
            </a:pPr>
            <a:r>
              <a:t>"Every woman deserves to know her body.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C3E50"/>
                </a:solidFill>
                <a:latin typeface="Arial"/>
              </a:defRPr>
            </a:pPr>
            <a:r>
              <a:t>Every symptom deserves to be heard.</a:t>
            </a:r>
          </a:p>
          <a:p>
            <a:pPr algn="ctr">
              <a:spcBef>
                <a:spcPts val="0"/>
              </a:spcBef>
              <a:spcAft>
                <a:spcPts val="1600"/>
              </a:spcAft>
              <a:defRPr sz="2000" b="0">
                <a:solidFill>
                  <a:srgbClr val="2C3E50"/>
                </a:solidFill>
                <a:latin typeface="Arial"/>
              </a:defRPr>
            </a:pPr>
            <a:r>
              <a:t>Every diagnosis deserves to come early."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6B9D"/>
                </a:solidFill>
                <a:latin typeface="Arial"/>
              </a:defRPr>
            </a:pPr>
            <a:r>
              <a:t>— Team Sparsh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7F8C8D"/>
                </a:solidFill>
                <a:latin typeface="Arial"/>
              </a:defRPr>
            </a:pPr>
            <a:r>
              <a:t>Anshika Madhu  •  Nilakshi  •  Anchal Kumari  •  Mayank Kumar  •  Arpan Gandhi  •  Saurabh Kumar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5029200"/>
            <a:ext cx="484632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51206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2C3E50"/>
                </a:solidFill>
                <a:latin typeface="Arial"/>
              </a:defRPr>
            </a:pPr>
            <a:r>
              <a:t>Demo Video:  [Insert 1-min demo link here]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54406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6B9D"/>
                </a:solidFill>
                <a:latin typeface="Arial"/>
              </a:defRPr>
            </a:pPr>
            <a:r>
              <a:t>Thank You  |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